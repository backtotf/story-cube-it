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60" r:id="rId14"/>
    <p:sldId id="271" r:id="rId15"/>
    <p:sldId id="259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D16A84-529D-23B5-6F7E-42D98C1BE978}" v="32" dt="2026-07-02T15:29:38.490"/>
    <p1510:client id="{BC35A9BE-77CE-D717-83EE-39D66536397C}" v="8" dt="2026-07-02T15:15:33.5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9D55F-D48D-26D5-80E0-61E64084A6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0D4992-BD9B-CA97-4328-C4261330C9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4434C-51C0-FF00-FAA5-DE458D117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C8AD-D3D0-442B-B3B9-B3BF3FF1EF35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7240F7-04E2-BE72-63A0-A958B7D61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9E31A-1076-14D9-31CB-41B3D8EAE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0E709-F563-4A1C-AEF7-1D7746CEEF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46806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BFC5-D326-18B6-AD13-12DBFB319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94A18-B645-43A2-95DA-DEC7F0089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64A21-FE03-C146-96D0-2C7084571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C8AD-D3D0-442B-B3B9-B3BF3FF1EF35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1CFB5-2B8C-8662-2F71-C25534C17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112AEA-0F04-F650-888F-B902BA7B8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0E709-F563-4A1C-AEF7-1D7746CEEF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7017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36615-37EE-82BD-5437-D41398DAB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1358B-B84E-1A16-E8CF-BFD464A0A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DDDBD-CE2E-73A1-5EDF-A28347A81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C8AD-D3D0-442B-B3B9-B3BF3FF1EF35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F7E92C-0F56-0DEB-0271-C5B00CE6C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36C1A-7860-2F5D-A903-6618E8A6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0E709-F563-4A1C-AEF7-1D7746CEEF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58279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AD755-D0CC-6562-6496-48EE9134A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79A98-DF1B-B742-1040-190A9E43D7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B9678D-C84B-756B-4C22-D7159AB12E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1C20F-0553-7A08-E462-9E3F3E100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C8AD-D3D0-442B-B3B9-B3BF3FF1EF35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06D18-CA15-12FC-C87E-2C835B88E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2B566-7747-29A0-F664-404C828AF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0E709-F563-4A1C-AEF7-1D7746CEEF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02518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4CD27-B735-07F3-E563-624B995B4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D774A-48D9-FCC1-376F-B62152323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8A09E1-E0BD-1858-E90B-A3567482B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907DD3-CFFC-6277-066C-3BFD17CB7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CDCFA7-1233-B396-F98B-B9B6CCEDA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3FF353-0C2E-FDAB-E8C2-4A352055A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C8AD-D3D0-442B-B3B9-B3BF3FF1EF35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4BDC8A-F8BE-0DAA-F42E-FB804A95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D077F4-0ABA-9A3A-939F-E8CC432CE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0E709-F563-4A1C-AEF7-1D7746CEEF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8894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F59E9-C48C-E850-9A42-9DD40C523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BD7085-4D9D-9A93-DC64-9480CD96B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C8AD-D3D0-442B-B3B9-B3BF3FF1EF35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FBEC1C-1590-61F4-ADCF-F8A1643A9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EAC7BA-F90D-459F-A869-1362C163C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0E709-F563-4A1C-AEF7-1D7746CEEF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8798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213787-C390-ED19-35F5-7977235D2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C8AD-D3D0-442B-B3B9-B3BF3FF1EF35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DA5BF7-0E6C-6BC2-F644-9AB9A63B3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1BDB06-729D-91CA-787E-23E4ACEB6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0E709-F563-4A1C-AEF7-1D7746CEEF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9323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1138F-6691-317D-C52A-69F777F47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44091-5982-8396-DBC3-FA9264A5F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4A05-FB02-A0B0-A88B-5B649336A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BB0268-C77C-037C-5936-3FC7C0081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C8AD-D3D0-442B-B3B9-B3BF3FF1EF35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3C4EA8-E34D-AFBB-3016-92035AD84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2A31E2-1236-8CAD-4BD3-C506E6517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0E709-F563-4A1C-AEF7-1D7746CEEF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5804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77975-9307-A2B5-0C2F-D15118D15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5497E1-D83C-72D7-6772-DBDDD60B37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62DD90-BDF2-F4DC-5307-9C116F162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28B1B-D96A-92BC-A9D7-3E89BF8D8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C8AD-D3D0-442B-B3B9-B3BF3FF1EF35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D4A9D3-8F7A-767D-A863-31568F558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B4C4E8-28D0-93A6-CD08-800CDAFF9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0E709-F563-4A1C-AEF7-1D7746CEEF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1833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C05E4-ADAF-86F9-1B6A-3C015B7EE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2502F9-03F5-6635-21EB-3965E99AC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C65A18-8241-177A-3D48-844BA9054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C8AD-D3D0-442B-B3B9-B3BF3FF1EF35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147FA-271D-8901-5470-DADBB3D24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C1A01-7BB0-6D47-29E3-99C5343B3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0E709-F563-4A1C-AEF7-1D7746CEEF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68882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9100AA-D700-B47C-D648-3C281E41B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B703C0-7304-CD10-73A5-D540F9FDA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E1D4A-789E-C276-E376-E04C30BCA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8C8AD-D3D0-442B-B3B9-B3BF3FF1EF35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AA18A-2818-8F57-13CE-CE4D5DB5A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73610-4119-F5A5-D65E-0514C6705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0E709-F563-4A1C-AEF7-1D7746CEEF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2994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16CE89-B26A-8A63-0E29-C624CD63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A6BC6-04FE-4C59-7A6E-97576858E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E2D4D-DDD2-45AB-93A6-65BDE6630B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98C8AD-D3D0-442B-B3B9-B3BF3FF1EF35}" type="datetimeFigureOut">
              <a:rPr lang="it-IT" smtClean="0"/>
              <a:t>16/07/2026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0CD3-72D8-8B5D-7E71-009CE1F573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9E1DF-40B1-CCD8-61DF-EE91B9040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30E709-F563-4A1C-AEF7-1D7746CEEF9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43284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3.jpg"/><Relationship Id="rId7" Type="http://schemas.openxmlformats.org/officeDocument/2006/relationships/image" Target="../media/image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13" Type="http://schemas.openxmlformats.org/officeDocument/2006/relationships/image" Target="../media/image19.jpg"/><Relationship Id="rId3" Type="http://schemas.openxmlformats.org/officeDocument/2006/relationships/image" Target="../media/image3.jpg"/><Relationship Id="rId7" Type="http://schemas.openxmlformats.org/officeDocument/2006/relationships/image" Target="../media/image14.jpg"/><Relationship Id="rId12" Type="http://schemas.openxmlformats.org/officeDocument/2006/relationships/image" Target="../media/image1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g"/><Relationship Id="rId11" Type="http://schemas.openxmlformats.org/officeDocument/2006/relationships/image" Target="../media/image17.jpg"/><Relationship Id="rId5" Type="http://schemas.openxmlformats.org/officeDocument/2006/relationships/image" Target="../media/image12.jpg"/><Relationship Id="rId10" Type="http://schemas.openxmlformats.org/officeDocument/2006/relationships/image" Target="../media/image16.jpg"/><Relationship Id="rId4" Type="http://schemas.openxmlformats.org/officeDocument/2006/relationships/image" Target="../media/image11.jpg"/><Relationship Id="rId9" Type="http://schemas.openxmlformats.org/officeDocument/2006/relationships/image" Target="../media/image7.jpg"/><Relationship Id="rId14" Type="http://schemas.openxmlformats.org/officeDocument/2006/relationships/image" Target="../media/image20.jp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13" Type="http://schemas.openxmlformats.org/officeDocument/2006/relationships/image" Target="../media/image29.jpg"/><Relationship Id="rId3" Type="http://schemas.openxmlformats.org/officeDocument/2006/relationships/image" Target="../media/image8.jpg"/><Relationship Id="rId7" Type="http://schemas.openxmlformats.org/officeDocument/2006/relationships/image" Target="../media/image24.jpg"/><Relationship Id="rId12" Type="http://schemas.openxmlformats.org/officeDocument/2006/relationships/image" Target="../media/image2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g"/><Relationship Id="rId11" Type="http://schemas.openxmlformats.org/officeDocument/2006/relationships/image" Target="../media/image27.jpg"/><Relationship Id="rId5" Type="http://schemas.openxmlformats.org/officeDocument/2006/relationships/image" Target="../media/image22.jpg"/><Relationship Id="rId10" Type="http://schemas.openxmlformats.org/officeDocument/2006/relationships/image" Target="../media/image4.jpg"/><Relationship Id="rId4" Type="http://schemas.openxmlformats.org/officeDocument/2006/relationships/image" Target="../media/image21.jpg"/><Relationship Id="rId9" Type="http://schemas.openxmlformats.org/officeDocument/2006/relationships/image" Target="../media/image26.jpg"/><Relationship Id="rId14" Type="http://schemas.openxmlformats.org/officeDocument/2006/relationships/image" Target="../media/image30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g"/><Relationship Id="rId13" Type="http://schemas.openxmlformats.org/officeDocument/2006/relationships/image" Target="../media/image39.jpg"/><Relationship Id="rId3" Type="http://schemas.openxmlformats.org/officeDocument/2006/relationships/image" Target="../media/image9.jpg"/><Relationship Id="rId7" Type="http://schemas.openxmlformats.org/officeDocument/2006/relationships/image" Target="../media/image34.jpg"/><Relationship Id="rId12" Type="http://schemas.openxmlformats.org/officeDocument/2006/relationships/image" Target="../media/image3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jpg"/><Relationship Id="rId11" Type="http://schemas.openxmlformats.org/officeDocument/2006/relationships/image" Target="../media/image37.jpg"/><Relationship Id="rId5" Type="http://schemas.openxmlformats.org/officeDocument/2006/relationships/image" Target="../media/image32.jpg"/><Relationship Id="rId10" Type="http://schemas.openxmlformats.org/officeDocument/2006/relationships/image" Target="../media/image36.jpg"/><Relationship Id="rId4" Type="http://schemas.openxmlformats.org/officeDocument/2006/relationships/image" Target="../media/image31.jpg"/><Relationship Id="rId9" Type="http://schemas.openxmlformats.org/officeDocument/2006/relationships/image" Target="../media/image10.jpg"/><Relationship Id="rId1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0185B1-EFF7-A123-6EF8-499EA9FC0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" y="0"/>
            <a:ext cx="99730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729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E3FF51-A628-3717-6F96-0AB73D357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98ACBF-8EDA-2202-3B3C-5E84F778A4AB}"/>
              </a:ext>
            </a:extLst>
          </p:cNvPr>
          <p:cNvSpPr txBox="1"/>
          <p:nvPr/>
        </p:nvSpPr>
        <p:spPr>
          <a:xfrm>
            <a:off x="346201" y="2875002"/>
            <a:ext cx="964362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accent2"/>
                </a:solidFill>
              </a:rPr>
              <a:t>IL PROGETTO</a:t>
            </a:r>
            <a:endParaRPr lang="it-IT" sz="6600" b="1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58192D-0361-02D6-7182-805E93711C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476" y="633711"/>
            <a:ext cx="4531806" cy="59271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BA3433B-A691-0CBD-F2E6-67C63CDC4B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434" r="73" b="28148"/>
          <a:stretch>
            <a:fillRect/>
          </a:stretch>
        </p:blipFill>
        <p:spPr>
          <a:xfrm>
            <a:off x="-871" y="0"/>
            <a:ext cx="4022206" cy="133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187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40480" cy="12801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504688" y="235173"/>
            <a:ext cx="8065008" cy="6335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dirty="0">
                <a:solidFill>
                  <a:srgbClr val="E97132"/>
                </a:solidFill>
              </a:rPr>
              <a:t>STORY CUBE - I&amp;D EDITION</a:t>
            </a:r>
          </a:p>
          <a:p>
            <a:pPr algn="l">
              <a:spcAft>
                <a:spcPts val="400"/>
              </a:spcAft>
            </a:pPr>
            <a:r>
              <a:rPr sz="1350" b="0" dirty="0">
                <a:solidFill>
                  <a:srgbClr val="595959"/>
                </a:solidFill>
              </a:rPr>
              <a:t>Gioco </a:t>
            </a:r>
            <a:r>
              <a:rPr sz="1350" b="0" dirty="0" err="1">
                <a:solidFill>
                  <a:srgbClr val="595959"/>
                </a:solidFill>
              </a:rPr>
              <a:t>narrativo</a:t>
            </a:r>
            <a:r>
              <a:rPr sz="1350" b="0" dirty="0">
                <a:solidFill>
                  <a:srgbClr val="595959"/>
                </a:solidFill>
              </a:rPr>
              <a:t> da </a:t>
            </a:r>
            <a:r>
              <a:rPr sz="1350" b="0" dirty="0" err="1">
                <a:solidFill>
                  <a:srgbClr val="595959"/>
                </a:solidFill>
              </a:rPr>
              <a:t>tavolo</a:t>
            </a:r>
            <a:r>
              <a:rPr sz="1350" b="0" dirty="0">
                <a:solidFill>
                  <a:srgbClr val="595959"/>
                </a:solidFill>
              </a:rPr>
              <a:t> - </a:t>
            </a:r>
            <a:r>
              <a:rPr sz="1350" b="0" dirty="0" err="1">
                <a:solidFill>
                  <a:srgbClr val="595959"/>
                </a:solidFill>
              </a:rPr>
              <a:t>dadi</a:t>
            </a:r>
            <a:r>
              <a:rPr sz="1350" b="0" dirty="0">
                <a:solidFill>
                  <a:srgbClr val="595959"/>
                </a:solidFill>
              </a:rPr>
              <a:t>, carte illustrate e </a:t>
            </a:r>
            <a:r>
              <a:rPr sz="1350" b="0" dirty="0" err="1">
                <a:solidFill>
                  <a:srgbClr val="595959"/>
                </a:solidFill>
              </a:rPr>
              <a:t>storie</a:t>
            </a:r>
            <a:r>
              <a:rPr sz="1350" b="0" dirty="0">
                <a:solidFill>
                  <a:srgbClr val="595959"/>
                </a:solidFill>
              </a:rPr>
              <a:t> in 20 </a:t>
            </a:r>
            <a:r>
              <a:rPr sz="1350" b="0" dirty="0" err="1">
                <a:solidFill>
                  <a:srgbClr val="595959"/>
                </a:solidFill>
              </a:rPr>
              <a:t>minuti</a:t>
            </a:r>
            <a:endParaRPr sz="1350" b="0" dirty="0">
              <a:solidFill>
                <a:srgbClr val="595959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58368" y="141732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 fasi narrative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27248" y="141732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D14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4-8 giocatori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87568" y="141732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Partita da 20 minuti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77440"/>
            <a:ext cx="67665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404040"/>
                </a:solidFill>
              </a:rPr>
              <a:t>Un gioco che rende l'inclusione visibile e coinvolgente: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404040"/>
                </a:solidFill>
              </a:rPr>
              <a:t>i dadi scelgono le carte, i giocatori raccontano la storia,</a:t>
            </a:r>
          </a:p>
          <a:p>
            <a:pPr algn="l">
              <a:spcAft>
                <a:spcPts val="1400"/>
              </a:spcAft>
            </a:pPr>
            <a:r>
              <a:rPr sz="1700" b="0">
                <a:solidFill>
                  <a:srgbClr val="404040"/>
                </a:solidFill>
              </a:rPr>
              <a:t>il master guida la partita.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595959"/>
                </a:solidFill>
              </a:rPr>
              <a:t>A fine partita ogni giocatore scopre il proprio archetipo,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</a:rPr>
              <a:t>un profilo del suo modo di collaborare.</a:t>
            </a:r>
          </a:p>
        </p:txBody>
      </p:sp>
      <p:pic>
        <p:nvPicPr>
          <p:cNvPr id="8" name="Picture 7" descr="personaggi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103120"/>
            <a:ext cx="1463040" cy="2194560"/>
          </a:xfrm>
          <a:prstGeom prst="rect">
            <a:avLst/>
          </a:prstGeom>
        </p:spPr>
      </p:pic>
      <p:pic>
        <p:nvPicPr>
          <p:cNvPr id="9" name="Picture 8" descr="problema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4" y="2103120"/>
            <a:ext cx="1463040" cy="2194560"/>
          </a:xfrm>
          <a:prstGeom prst="rect">
            <a:avLst/>
          </a:prstGeom>
        </p:spPr>
      </p:pic>
      <p:pic>
        <p:nvPicPr>
          <p:cNvPr id="10" name="Picture 9" descr="finale_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5328" y="2103120"/>
            <a:ext cx="1463040" cy="2194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8368" y="5120640"/>
            <a:ext cx="10881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E97132"/>
                </a:solidFill>
              </a:rPr>
              <a:t>Perche funziona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404040"/>
                </a:solidFill>
              </a:rPr>
              <a:t>L'inclusione non e teoria: emerge da come si collabora. Ogni contributo viene ascoltato 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04040"/>
                </a:solidFill>
              </a:rPr>
              <a:t>riconosciuto, e ogni storia valorizza prospettive diverse in tempo reale.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6D328E-9DE1-B66D-F759-4DFDB9302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2480D-3EA5-28B3-0067-323EA633074F}"/>
              </a:ext>
            </a:extLst>
          </p:cNvPr>
          <p:cNvSpPr txBox="1"/>
          <p:nvPr/>
        </p:nvSpPr>
        <p:spPr>
          <a:xfrm>
            <a:off x="2672900" y="2153331"/>
            <a:ext cx="77551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>
                <a:solidFill>
                  <a:schemeClr val="accent2"/>
                </a:solidFill>
              </a:rPr>
              <a:t>STORY CUBE</a:t>
            </a:r>
            <a:endParaRPr lang="it-IT" sz="6600" b="1">
              <a:solidFill>
                <a:schemeClr val="accent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A55285-0FC0-0EF3-1A01-B6FA89B6FDF9}"/>
              </a:ext>
            </a:extLst>
          </p:cNvPr>
          <p:cNvSpPr txBox="1"/>
          <p:nvPr/>
        </p:nvSpPr>
        <p:spPr>
          <a:xfrm>
            <a:off x="2670048" y="3383280"/>
            <a:ext cx="7754112" cy="914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>
                <a:solidFill>
                  <a:srgbClr val="E97132"/>
                </a:solidFill>
              </a:rPr>
              <a:t>I&amp;D EDITION</a:t>
            </a:r>
            <a:endParaRPr lang="it-IT" b="1"/>
          </a:p>
          <a:p>
            <a:pPr algn="l"/>
            <a:r>
              <a:rPr sz="1600" b="0">
                <a:solidFill>
                  <a:srgbClr val="595959"/>
                </a:solidFill>
              </a:rPr>
              <a:t>Un gioco narrativo di inclusione e collaborazione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3FDEBF-0788-C20F-65E0-3338156A7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1248" y="1716270"/>
            <a:ext cx="3797816" cy="4849378"/>
          </a:xfrm>
          <a:prstGeom prst="rect">
            <a:avLst/>
          </a:prstGeom>
        </p:spPr>
      </p:pic>
      <p:pic>
        <p:nvPicPr>
          <p:cNvPr id="7" name="Picture 6" descr="A logo with orange triangles&#10;&#10;AI-generated content may be incorrect.">
            <a:extLst>
              <a:ext uri="{FF2B5EF4-FFF2-40B4-BE49-F238E27FC236}">
                <a16:creationId xmlns:a16="http://schemas.microsoft.com/office/drawing/2014/main" id="{B77BF4F1-96E8-768C-73D5-47359DD53D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434" r="73" b="28148"/>
          <a:stretch>
            <a:fillRect/>
          </a:stretch>
        </p:blipFill>
        <p:spPr>
          <a:xfrm>
            <a:off x="-870" y="0"/>
            <a:ext cx="4022206" cy="133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70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1752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10128" y="182880"/>
            <a:ext cx="8595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E97132"/>
                </a:solidFill>
              </a:rPr>
              <a:t>LE 3 FASI DEL GIOCO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</a:rPr>
              <a:t>Ogni fase unisce due tappe narrative: la storia resta sempre collegabile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99719" y="1417320"/>
            <a:ext cx="3566160" cy="4480560"/>
          </a:xfrm>
          <a:prstGeom prst="roundRect">
            <a:avLst>
              <a:gd name="adj" fmla="val 5000"/>
            </a:avLst>
          </a:prstGeom>
          <a:solidFill>
            <a:srgbClr val="FDF0E7"/>
          </a:solidFill>
          <a:ln w="12700">
            <a:solidFill>
              <a:srgbClr val="F3C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74039" y="169164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039" y="2258568"/>
            <a:ext cx="30175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04040"/>
                </a:solidFill>
              </a:rPr>
              <a:t>Personaggio + Luogo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</a:rPr>
              <a:t>Chi agisce e dove si svolge la storia</a:t>
            </a:r>
          </a:p>
        </p:txBody>
      </p:sp>
      <p:pic>
        <p:nvPicPr>
          <p:cNvPr id="7" name="Picture 6" descr="personaggi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99" y="3520440"/>
            <a:ext cx="1432560" cy="2148840"/>
          </a:xfrm>
          <a:prstGeom prst="rect">
            <a:avLst/>
          </a:prstGeom>
        </p:spPr>
      </p:pic>
      <p:pic>
        <p:nvPicPr>
          <p:cNvPr id="8" name="Picture 7" descr="luogo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4239" y="3520440"/>
            <a:ext cx="1432560" cy="2148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312767" y="1417320"/>
            <a:ext cx="3566160" cy="4480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3C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87087" y="169164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D14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7087" y="2258568"/>
            <a:ext cx="30175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04040"/>
                </a:solidFill>
              </a:rPr>
              <a:t>Oggetto + Problema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</a:rPr>
              <a:t>Con quale strumento e quale ostacolo da superare</a:t>
            </a:r>
          </a:p>
        </p:txBody>
      </p:sp>
      <p:pic>
        <p:nvPicPr>
          <p:cNvPr id="12" name="Picture 11" descr="oggetto_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847" y="3520440"/>
            <a:ext cx="1432560" cy="2148840"/>
          </a:xfrm>
          <a:prstGeom prst="rect">
            <a:avLst/>
          </a:prstGeom>
        </p:spPr>
      </p:pic>
      <p:pic>
        <p:nvPicPr>
          <p:cNvPr id="13" name="Picture 12" descr="problema_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7287" y="3520440"/>
            <a:ext cx="1432560" cy="214884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125815" y="1417320"/>
            <a:ext cx="3566160" cy="4480560"/>
          </a:xfrm>
          <a:prstGeom prst="roundRect">
            <a:avLst>
              <a:gd name="adj" fmla="val 5000"/>
            </a:avLst>
          </a:prstGeom>
          <a:solidFill>
            <a:srgbClr val="FDF0E7"/>
          </a:solidFill>
          <a:ln w="12700">
            <a:solidFill>
              <a:srgbClr val="F3C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400135" y="169164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0135" y="2258568"/>
            <a:ext cx="301752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04040"/>
                </a:solidFill>
              </a:rPr>
              <a:t>Soluzione + Finale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</a:rPr>
              <a:t>Come si risolve e come finisce la storia</a:t>
            </a:r>
          </a:p>
        </p:txBody>
      </p:sp>
      <p:pic>
        <p:nvPicPr>
          <p:cNvPr id="17" name="Picture 16" descr="soluzione_1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4895" y="3520440"/>
            <a:ext cx="1432560" cy="2148840"/>
          </a:xfrm>
          <a:prstGeom prst="rect">
            <a:avLst/>
          </a:prstGeom>
        </p:spPr>
      </p:pic>
      <p:pic>
        <p:nvPicPr>
          <p:cNvPr id="18" name="Picture 17" descr="finale_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0335" y="3520440"/>
            <a:ext cx="1411668" cy="21488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99719" y="61722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</a:rPr>
              <a:t>12 carte per fase (6 + 6): a ogni fase il giocatore tira 2 dadi e i numeri usciti scelgono le carte della sua storia.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1752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10128" y="182880"/>
            <a:ext cx="8595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E97132"/>
                </a:solidFill>
              </a:rPr>
              <a:t>FORMATO E STRUTTURA DELLA PARTITA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</a:rPr>
              <a:t>Semplice, rapido, memorabile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4023360" cy="4937760"/>
          </a:xfrm>
          <a:prstGeom prst="roundRect">
            <a:avLst>
              <a:gd name="adj" fmla="val 6000"/>
            </a:avLst>
          </a:prstGeom>
          <a:solidFill>
            <a:srgbClr val="FDF0E7"/>
          </a:solidFill>
          <a:ln w="12700">
            <a:solidFill>
              <a:srgbClr val="F3C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47472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97132"/>
                </a:solidFill>
              </a:rPr>
              <a:t>Formato consigliato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404040"/>
                </a:solidFill>
              </a:rPr>
              <a:t>•  4-8 giocatori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404040"/>
                </a:solidFill>
              </a:rPr>
              <a:t>•  1 master che guida la partita e chiama i tiri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404040"/>
                </a:solidFill>
              </a:rPr>
              <a:t>•  2 dadi virtuali a testa: app RollDice di Google aperta sul PC di ogni giocatore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404040"/>
                </a:solidFill>
              </a:rPr>
              <a:t>•  1 timer</a:t>
            </a:r>
          </a:p>
          <a:p>
            <a:pPr algn="l">
              <a:spcAft>
                <a:spcPts val="1600"/>
              </a:spcAft>
            </a:pPr>
            <a:r>
              <a:rPr sz="1400" b="0">
                <a:solidFill>
                  <a:srgbClr val="404040"/>
                </a:solidFill>
              </a:rPr>
              <a:t>•  1 foglio centrale per segnare la storia finale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E97132"/>
                </a:solidFill>
              </a:rPr>
              <a:t>Regole semplici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404040"/>
                </a:solidFill>
              </a:rPr>
              <a:t>1.  M365 Copilot mescola i nomi e decide l'ordine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404040"/>
                </a:solidFill>
              </a:rPr>
              <a:t>2.  Il giocatore di turno tira 2 dadi per ogni fase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404040"/>
                </a:solidFill>
              </a:rPr>
              <a:t>3.  I numeri usciti indicano le carte della storia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404040"/>
                </a:solidFill>
              </a:rPr>
              <a:t>4.  Il giocatore detta la sua mini-storia al master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404040"/>
                </a:solidFill>
              </a:rPr>
              <a:t>5.  Si chiude con un breve debrief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371600"/>
            <a:ext cx="64922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3C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257800" y="1664208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55448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04040"/>
                </a:solidFill>
              </a:rPr>
              <a:t>Introduzione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</a:rPr>
              <a:t>Regole e ordine di gioco in un minuto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2651760"/>
            <a:ext cx="64922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3C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57800" y="2944368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D14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10-12'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83464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04040"/>
                </a:solidFill>
              </a:rPr>
              <a:t>Sviluppo della storia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</a:rPr>
              <a:t>Le 3 fasi, una mini-storia a testa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3931920"/>
            <a:ext cx="64922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3C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257800" y="4224528"/>
            <a:ext cx="1234440" cy="45720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411480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404040"/>
                </a:solidFill>
              </a:rPr>
              <a:t>Chiusura e debrief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</a:rPr>
              <a:t>Archetipi e takeaway per il 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349240"/>
            <a:ext cx="6492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97132"/>
                </a:solidFill>
              </a:rPr>
              <a:t>Output desiderato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404040"/>
                </a:solidFill>
              </a:rPr>
              <a:t>Storia condivisa, collaborazione, osservazione di comportamenti inclusivi, takeaway per il team.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1752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10128" y="182880"/>
            <a:ext cx="8595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E97132"/>
                </a:solidFill>
              </a:rPr>
              <a:t>IL TURNO DI GIOCO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</a:rPr>
              <a:t>Il master conduce, M365 Copilot tiene i conti, i dadi decidono le carte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908792" cy="822960"/>
          </a:xfrm>
          <a:prstGeom prst="roundRect">
            <a:avLst>
              <a:gd name="adj" fmla="val 16000"/>
            </a:avLst>
          </a:prstGeom>
          <a:solidFill>
            <a:srgbClr val="FDF0E7"/>
          </a:solidFill>
          <a:ln w="12700">
            <a:solidFill>
              <a:srgbClr val="F3C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0392" y="1581912"/>
            <a:ext cx="402336" cy="402336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72184"/>
            <a:ext cx="98755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>
                <a:solidFill>
                  <a:srgbClr val="404040"/>
                </a:solidFill>
              </a:rPr>
              <a:t>Il master inserisce i nomi dei giocatori in M365 Copilot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95959"/>
                </a:solidFill>
              </a:rPr>
              <a:t>Setup iniziale, una volta sola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40864"/>
            <a:ext cx="10908792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3C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" y="2551176"/>
            <a:ext cx="402336" cy="402336"/>
          </a:xfrm>
          <a:prstGeom prst="ellipse">
            <a:avLst/>
          </a:prstGeom>
          <a:solidFill>
            <a:srgbClr val="D14F1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441448"/>
            <a:ext cx="98755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>
                <a:solidFill>
                  <a:srgbClr val="404040"/>
                </a:solidFill>
              </a:rPr>
              <a:t>Copilot mescola i nomi e restituisce l'ordine di gioco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95959"/>
                </a:solidFill>
              </a:rPr>
              <a:t>Ordine casuale, nessuna discussione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310128"/>
            <a:ext cx="10908792" cy="822960"/>
          </a:xfrm>
          <a:prstGeom prst="roundRect">
            <a:avLst>
              <a:gd name="adj" fmla="val 16000"/>
            </a:avLst>
          </a:prstGeom>
          <a:solidFill>
            <a:srgbClr val="FDF0E7"/>
          </a:solidFill>
          <a:ln w="12700">
            <a:solidFill>
              <a:srgbClr val="F3C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0392" y="3520440"/>
            <a:ext cx="402336" cy="402336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10712"/>
            <a:ext cx="98755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>
                <a:solidFill>
                  <a:srgbClr val="404040"/>
                </a:solidFill>
              </a:rPr>
              <a:t>Il giocatore di turno tira 2 dadi per ogni fase con l'app RollDice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95959"/>
                </a:solidFill>
              </a:rPr>
              <a:t>Ogni dado sceglie una carta: il numero uscito corrisponde al numeretto sulla carta (1-6)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79392"/>
            <a:ext cx="10908792" cy="82296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3C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0392" y="4489704"/>
            <a:ext cx="402336" cy="402336"/>
          </a:xfrm>
          <a:prstGeom prst="ellipse">
            <a:avLst/>
          </a:prstGeom>
          <a:solidFill>
            <a:srgbClr val="D14F1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4379976"/>
            <a:ext cx="98755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>
                <a:solidFill>
                  <a:srgbClr val="404040"/>
                </a:solidFill>
              </a:rPr>
              <a:t>Il giocatore racconta la mini-storia e il master la inserisce in Copilot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95959"/>
                </a:solidFill>
              </a:rPr>
              <a:t>Le carte uscite guidano la narrazione: chi, dove, con cosa, quale problema, come finisce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248656"/>
            <a:ext cx="10908792" cy="822960"/>
          </a:xfrm>
          <a:prstGeom prst="roundRect">
            <a:avLst>
              <a:gd name="adj" fmla="val 16000"/>
            </a:avLst>
          </a:prstGeom>
          <a:solidFill>
            <a:srgbClr val="FDF0E7"/>
          </a:solidFill>
          <a:ln w="12700">
            <a:solidFill>
              <a:srgbClr val="F3C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0392" y="5458968"/>
            <a:ext cx="402336" cy="402336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5349240"/>
            <a:ext cx="98755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>
                <a:solidFill>
                  <a:srgbClr val="404040"/>
                </a:solidFill>
              </a:rPr>
              <a:t>A turno concluso Copilot restituisce un file .md con gli archetipi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95959"/>
                </a:solidFill>
              </a:rPr>
              <a:t>Un profilo per ogni giocatore, pronto per il debrief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</a:rPr>
              <a:t>Ogni giocatore tiene aperta l'app RollDice di Google sul proprio PC: il master chiama i tiri, nessun materiale fisico extra.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1752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10128" y="182880"/>
            <a:ext cx="8595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E97132"/>
                </a:solidFill>
              </a:rPr>
              <a:t>FASE 1 - PERSONAGGIO E LUOGO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</a:rPr>
              <a:t>Il giocatore tira 2 dadi: il primo sceglie il Personaggio, il secondo il Luogo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07008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PERSONAGGIO - DADO 1</a:t>
            </a:r>
          </a:p>
        </p:txBody>
      </p:sp>
      <p:pic>
        <p:nvPicPr>
          <p:cNvPr id="5" name="Picture 4" descr="personaggi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9344"/>
            <a:ext cx="1463040" cy="21945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216152" y="3465576"/>
            <a:ext cx="310896" cy="310896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pic>
        <p:nvPicPr>
          <p:cNvPr id="7" name="Picture 6" descr="personaggio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230" y="1609344"/>
            <a:ext cx="1463040" cy="219456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3105302" y="3465576"/>
            <a:ext cx="310896" cy="310896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pic>
        <p:nvPicPr>
          <p:cNvPr id="9" name="Picture 8" descr="personaggio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8380" y="1609344"/>
            <a:ext cx="1463040" cy="219456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4994452" y="3465576"/>
            <a:ext cx="310896" cy="310896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pic>
        <p:nvPicPr>
          <p:cNvPr id="11" name="Picture 10" descr="personaggio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7531" y="1609344"/>
            <a:ext cx="1463040" cy="219456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6883603" y="3465576"/>
            <a:ext cx="310896" cy="310896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pic>
        <p:nvPicPr>
          <p:cNvPr id="13" name="Picture 12" descr="personaggio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6681" y="1609344"/>
            <a:ext cx="1463040" cy="219456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8772753" y="3465576"/>
            <a:ext cx="310896" cy="310896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pic>
        <p:nvPicPr>
          <p:cNvPr id="15" name="Picture 14" descr="personaggio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5831" y="1609344"/>
            <a:ext cx="1463040" cy="219456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0661903" y="3465576"/>
            <a:ext cx="310896" cy="310896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3192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D14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LUOGO - DADO 2</a:t>
            </a:r>
          </a:p>
        </p:txBody>
      </p:sp>
      <p:pic>
        <p:nvPicPr>
          <p:cNvPr id="18" name="Picture 17" descr="luogo_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334256"/>
            <a:ext cx="1463040" cy="219456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1216152" y="6190488"/>
            <a:ext cx="310896" cy="310896"/>
          </a:xfrm>
          <a:prstGeom prst="ellipse">
            <a:avLst/>
          </a:prstGeom>
          <a:solidFill>
            <a:srgbClr val="D14F1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pic>
        <p:nvPicPr>
          <p:cNvPr id="20" name="Picture 19" descr="luogo_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29230" y="4334256"/>
            <a:ext cx="1463040" cy="2194560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3105302" y="6190488"/>
            <a:ext cx="310896" cy="310896"/>
          </a:xfrm>
          <a:prstGeom prst="ellipse">
            <a:avLst/>
          </a:prstGeom>
          <a:solidFill>
            <a:srgbClr val="D14F1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pic>
        <p:nvPicPr>
          <p:cNvPr id="22" name="Picture 21" descr="luogo_3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8380" y="4334256"/>
            <a:ext cx="1463040" cy="219456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4994452" y="6190488"/>
            <a:ext cx="310896" cy="310896"/>
          </a:xfrm>
          <a:prstGeom prst="ellipse">
            <a:avLst/>
          </a:prstGeom>
          <a:solidFill>
            <a:srgbClr val="D14F1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pic>
        <p:nvPicPr>
          <p:cNvPr id="24" name="Picture 23" descr="luogo_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7531" y="4334256"/>
            <a:ext cx="1463040" cy="2194560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6883603" y="6190488"/>
            <a:ext cx="310896" cy="310896"/>
          </a:xfrm>
          <a:prstGeom prst="ellipse">
            <a:avLst/>
          </a:prstGeom>
          <a:solidFill>
            <a:srgbClr val="D14F1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pic>
        <p:nvPicPr>
          <p:cNvPr id="26" name="Picture 25" descr="luogo_5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96681" y="4334256"/>
            <a:ext cx="1463040" cy="219456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8772753" y="6190488"/>
            <a:ext cx="310896" cy="310896"/>
          </a:xfrm>
          <a:prstGeom prst="ellipse">
            <a:avLst/>
          </a:prstGeom>
          <a:solidFill>
            <a:srgbClr val="D14F1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pic>
        <p:nvPicPr>
          <p:cNvPr id="28" name="Picture 27" descr="luogo_6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85831" y="4334256"/>
            <a:ext cx="1463040" cy="2194560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10661903" y="6190488"/>
            <a:ext cx="310896" cy="310896"/>
          </a:xfrm>
          <a:prstGeom prst="ellipse">
            <a:avLst/>
          </a:prstGeom>
          <a:solidFill>
            <a:srgbClr val="D14F1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1752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10128" y="182880"/>
            <a:ext cx="8595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E97132"/>
                </a:solidFill>
              </a:rPr>
              <a:t>FASE 2 - OGGETTO E PROBLEMA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</a:rPr>
              <a:t>Il giocatore tira 2 dadi: il primo sceglie l'Oggetto, il secondo il Problema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07008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OGGETTO - DADO 1</a:t>
            </a:r>
          </a:p>
        </p:txBody>
      </p:sp>
      <p:pic>
        <p:nvPicPr>
          <p:cNvPr id="5" name="Picture 4" descr="oggetto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9344"/>
            <a:ext cx="1463040" cy="21945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216152" y="3465576"/>
            <a:ext cx="310896" cy="310896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pic>
        <p:nvPicPr>
          <p:cNvPr id="7" name="Picture 6" descr="oggetto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230" y="1609344"/>
            <a:ext cx="1463040" cy="219456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3105302" y="3465576"/>
            <a:ext cx="310896" cy="310896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pic>
        <p:nvPicPr>
          <p:cNvPr id="9" name="Picture 8" descr="oggetto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8380" y="1609344"/>
            <a:ext cx="1463040" cy="219456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4994452" y="3465576"/>
            <a:ext cx="310896" cy="310896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pic>
        <p:nvPicPr>
          <p:cNvPr id="11" name="Picture 10" descr="oggetto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7531" y="1609344"/>
            <a:ext cx="1463040" cy="219456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6883603" y="3465576"/>
            <a:ext cx="310896" cy="310896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pic>
        <p:nvPicPr>
          <p:cNvPr id="13" name="Picture 12" descr="oggetto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6681" y="1609344"/>
            <a:ext cx="1463040" cy="219456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8772753" y="3465576"/>
            <a:ext cx="310896" cy="310896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pic>
        <p:nvPicPr>
          <p:cNvPr id="15" name="Picture 14" descr="oggetto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5831" y="1609344"/>
            <a:ext cx="1463040" cy="219456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0661903" y="3465576"/>
            <a:ext cx="310896" cy="310896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3192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D14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PROBLEMA - DADO 2</a:t>
            </a:r>
          </a:p>
        </p:txBody>
      </p:sp>
      <p:pic>
        <p:nvPicPr>
          <p:cNvPr id="18" name="Picture 17" descr="problema_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334256"/>
            <a:ext cx="1463040" cy="219456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1216152" y="6190488"/>
            <a:ext cx="310896" cy="310896"/>
          </a:xfrm>
          <a:prstGeom prst="ellipse">
            <a:avLst/>
          </a:prstGeom>
          <a:solidFill>
            <a:srgbClr val="D14F1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pic>
        <p:nvPicPr>
          <p:cNvPr id="20" name="Picture 19" descr="problema_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29230" y="4334256"/>
            <a:ext cx="1463040" cy="2194560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3105302" y="6190488"/>
            <a:ext cx="310896" cy="310896"/>
          </a:xfrm>
          <a:prstGeom prst="ellipse">
            <a:avLst/>
          </a:prstGeom>
          <a:solidFill>
            <a:srgbClr val="D14F1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pic>
        <p:nvPicPr>
          <p:cNvPr id="22" name="Picture 21" descr="problema_3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8380" y="4334256"/>
            <a:ext cx="1463040" cy="219456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4994452" y="6190488"/>
            <a:ext cx="310896" cy="310896"/>
          </a:xfrm>
          <a:prstGeom prst="ellipse">
            <a:avLst/>
          </a:prstGeom>
          <a:solidFill>
            <a:srgbClr val="D14F1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pic>
        <p:nvPicPr>
          <p:cNvPr id="24" name="Picture 23" descr="problema_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7531" y="4334256"/>
            <a:ext cx="1463040" cy="2194560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6883603" y="6190488"/>
            <a:ext cx="310896" cy="310896"/>
          </a:xfrm>
          <a:prstGeom prst="ellipse">
            <a:avLst/>
          </a:prstGeom>
          <a:solidFill>
            <a:srgbClr val="D14F1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pic>
        <p:nvPicPr>
          <p:cNvPr id="26" name="Picture 25" descr="problema_5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96681" y="4334256"/>
            <a:ext cx="1463040" cy="219456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8772753" y="6190488"/>
            <a:ext cx="310896" cy="310896"/>
          </a:xfrm>
          <a:prstGeom prst="ellipse">
            <a:avLst/>
          </a:prstGeom>
          <a:solidFill>
            <a:srgbClr val="D14F1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pic>
        <p:nvPicPr>
          <p:cNvPr id="28" name="Picture 27" descr="problema_6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85831" y="4334256"/>
            <a:ext cx="1463040" cy="2194560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10661903" y="6190488"/>
            <a:ext cx="310896" cy="310896"/>
          </a:xfrm>
          <a:prstGeom prst="ellipse">
            <a:avLst/>
          </a:prstGeom>
          <a:solidFill>
            <a:srgbClr val="D14F1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1752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10128" y="182880"/>
            <a:ext cx="8595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E97132"/>
                </a:solidFill>
              </a:rPr>
              <a:t>FASE 3 - SOLUZIONE E FINALE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</a:rPr>
              <a:t>Il giocatore tira 2 dadi: il primo sceglie la Soluzione, il secondo il Finale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07008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SOLUZIONE - DADO 1</a:t>
            </a:r>
          </a:p>
        </p:txBody>
      </p:sp>
      <p:pic>
        <p:nvPicPr>
          <p:cNvPr id="5" name="Picture 4" descr="soluzione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9344"/>
            <a:ext cx="1463040" cy="21945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216152" y="3465576"/>
            <a:ext cx="310896" cy="310896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pic>
        <p:nvPicPr>
          <p:cNvPr id="7" name="Picture 6" descr="soluzione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9230" y="1609344"/>
            <a:ext cx="1463040" cy="219456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3105302" y="3465576"/>
            <a:ext cx="310896" cy="310896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pic>
        <p:nvPicPr>
          <p:cNvPr id="9" name="Picture 8" descr="soluzione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8380" y="1609344"/>
            <a:ext cx="1463040" cy="219456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4994452" y="3465576"/>
            <a:ext cx="310896" cy="310896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pic>
        <p:nvPicPr>
          <p:cNvPr id="11" name="Picture 10" descr="soluzione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7531" y="1609344"/>
            <a:ext cx="1463040" cy="219456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6883603" y="3465576"/>
            <a:ext cx="310896" cy="310896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pic>
        <p:nvPicPr>
          <p:cNvPr id="13" name="Picture 12" descr="soluzione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6681" y="1609344"/>
            <a:ext cx="1463040" cy="219456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8772753" y="3465576"/>
            <a:ext cx="310896" cy="310896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pic>
        <p:nvPicPr>
          <p:cNvPr id="15" name="Picture 14" descr="soluzione_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5831" y="1609344"/>
            <a:ext cx="1463040" cy="2194560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0661903" y="3465576"/>
            <a:ext cx="310896" cy="310896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31920"/>
            <a:ext cx="2331720" cy="329184"/>
          </a:xfrm>
          <a:prstGeom prst="roundRect">
            <a:avLst>
              <a:gd name="adj" fmla="val 50000"/>
            </a:avLst>
          </a:prstGeom>
          <a:solidFill>
            <a:srgbClr val="D14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FINALE - DADO 2</a:t>
            </a:r>
          </a:p>
        </p:txBody>
      </p:sp>
      <p:pic>
        <p:nvPicPr>
          <p:cNvPr id="18" name="Picture 17" descr="finale_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4334256"/>
            <a:ext cx="1463040" cy="2194560"/>
          </a:xfrm>
          <a:prstGeom prst="rect">
            <a:avLst/>
          </a:prstGeom>
        </p:spPr>
      </p:pic>
      <p:sp>
        <p:nvSpPr>
          <p:cNvPr id="19" name="Oval 18"/>
          <p:cNvSpPr/>
          <p:nvPr/>
        </p:nvSpPr>
        <p:spPr>
          <a:xfrm>
            <a:off x="1216152" y="6190488"/>
            <a:ext cx="310896" cy="310896"/>
          </a:xfrm>
          <a:prstGeom prst="ellipse">
            <a:avLst/>
          </a:prstGeom>
          <a:solidFill>
            <a:srgbClr val="D14F1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1</a:t>
            </a:r>
          </a:p>
        </p:txBody>
      </p:sp>
      <p:pic>
        <p:nvPicPr>
          <p:cNvPr id="20" name="Picture 19" descr="finale_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29230" y="4334256"/>
            <a:ext cx="1463040" cy="2194560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3105302" y="6190488"/>
            <a:ext cx="310896" cy="310896"/>
          </a:xfrm>
          <a:prstGeom prst="ellipse">
            <a:avLst/>
          </a:prstGeom>
          <a:solidFill>
            <a:srgbClr val="D14F1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2</a:t>
            </a:r>
          </a:p>
        </p:txBody>
      </p:sp>
      <p:pic>
        <p:nvPicPr>
          <p:cNvPr id="22" name="Picture 21" descr="finale_3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18380" y="4334256"/>
            <a:ext cx="1463040" cy="219456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4994452" y="6190488"/>
            <a:ext cx="310896" cy="310896"/>
          </a:xfrm>
          <a:prstGeom prst="ellipse">
            <a:avLst/>
          </a:prstGeom>
          <a:solidFill>
            <a:srgbClr val="D14F1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3</a:t>
            </a:r>
          </a:p>
        </p:txBody>
      </p:sp>
      <p:pic>
        <p:nvPicPr>
          <p:cNvPr id="24" name="Picture 23" descr="finale_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07531" y="4334256"/>
            <a:ext cx="1463040" cy="2194560"/>
          </a:xfrm>
          <a:prstGeom prst="rect">
            <a:avLst/>
          </a:prstGeom>
        </p:spPr>
      </p:pic>
      <p:sp>
        <p:nvSpPr>
          <p:cNvPr id="25" name="Oval 24"/>
          <p:cNvSpPr/>
          <p:nvPr/>
        </p:nvSpPr>
        <p:spPr>
          <a:xfrm>
            <a:off x="6883603" y="6190488"/>
            <a:ext cx="310896" cy="310896"/>
          </a:xfrm>
          <a:prstGeom prst="ellipse">
            <a:avLst/>
          </a:prstGeom>
          <a:solidFill>
            <a:srgbClr val="D14F1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4</a:t>
            </a:r>
          </a:p>
        </p:txBody>
      </p:sp>
      <p:pic>
        <p:nvPicPr>
          <p:cNvPr id="26" name="Picture 25" descr="finale_5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96681" y="4334256"/>
            <a:ext cx="1463040" cy="219456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8772753" y="6190488"/>
            <a:ext cx="310896" cy="310896"/>
          </a:xfrm>
          <a:prstGeom prst="ellipse">
            <a:avLst/>
          </a:prstGeom>
          <a:solidFill>
            <a:srgbClr val="D14F1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pic>
        <p:nvPicPr>
          <p:cNvPr id="28" name="Picture 27" descr="finale_6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85831" y="4334256"/>
            <a:ext cx="1463040" cy="2194560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10661903" y="6190488"/>
            <a:ext cx="310896" cy="310896"/>
          </a:xfrm>
          <a:prstGeom prst="ellipse">
            <a:avLst/>
          </a:prstGeom>
          <a:solidFill>
            <a:srgbClr val="D14F1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1752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10128" y="182880"/>
            <a:ext cx="8595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E97132"/>
                </a:solidFill>
              </a:rPr>
              <a:t>GLI ARCHETIPI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</a:rPr>
              <a:t>Ogni storia rivela come collabori: il profilo arriva a fine turno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94960" cy="4572000"/>
          </a:xfrm>
          <a:prstGeom prst="roundRect">
            <a:avLst>
              <a:gd name="adj" fmla="val 6000"/>
            </a:avLst>
          </a:prstGeom>
          <a:solidFill>
            <a:srgbClr val="FDF0E7"/>
          </a:solidFill>
          <a:ln w="12700">
            <a:solidFill>
              <a:srgbClr val="F3C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846320" cy="406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dirty="0">
                <a:solidFill>
                  <a:srgbClr val="E97132"/>
                </a:solidFill>
              </a:rPr>
              <a:t>Come </a:t>
            </a:r>
            <a:r>
              <a:rPr sz="1800" b="1" dirty="0" err="1">
                <a:solidFill>
                  <a:srgbClr val="E97132"/>
                </a:solidFill>
              </a:rPr>
              <a:t>nasce</a:t>
            </a:r>
            <a:r>
              <a:rPr sz="1800" b="1" dirty="0">
                <a:solidFill>
                  <a:srgbClr val="E97132"/>
                </a:solidFill>
              </a:rPr>
              <a:t> il </a:t>
            </a:r>
            <a:r>
              <a:rPr sz="1800" b="1" dirty="0" err="1">
                <a:solidFill>
                  <a:srgbClr val="E97132"/>
                </a:solidFill>
              </a:rPr>
              <a:t>profilo</a:t>
            </a:r>
            <a:endParaRPr sz="1800" b="1" dirty="0">
              <a:solidFill>
                <a:srgbClr val="E97132"/>
              </a:solidFill>
            </a:endParaRP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404040"/>
                </a:solidFill>
              </a:rPr>
              <a:t>•  Ogni carta e </a:t>
            </a:r>
            <a:r>
              <a:rPr sz="1400" b="0" dirty="0" err="1">
                <a:solidFill>
                  <a:srgbClr val="404040"/>
                </a:solidFill>
              </a:rPr>
              <a:t>collegata</a:t>
            </a:r>
            <a:r>
              <a:rPr sz="1400" b="0" dirty="0">
                <a:solidFill>
                  <a:srgbClr val="404040"/>
                </a:solidFill>
              </a:rPr>
              <a:t> a un </a:t>
            </a:r>
            <a:r>
              <a:rPr sz="1400" b="0" dirty="0" err="1">
                <a:solidFill>
                  <a:srgbClr val="404040"/>
                </a:solidFill>
              </a:rPr>
              <a:t>archetipo</a:t>
            </a:r>
            <a:r>
              <a:rPr sz="1400" b="0" dirty="0">
                <a:solidFill>
                  <a:srgbClr val="404040"/>
                </a:solidFill>
              </a:rPr>
              <a:t> </a:t>
            </a:r>
            <a:r>
              <a:rPr sz="1400" b="0" dirty="0" err="1">
                <a:solidFill>
                  <a:srgbClr val="404040"/>
                </a:solidFill>
              </a:rPr>
              <a:t>narrativo</a:t>
            </a:r>
            <a:endParaRPr sz="1400" b="0" dirty="0">
              <a:solidFill>
                <a:srgbClr val="404040"/>
              </a:solidFill>
            </a:endParaRP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404040"/>
                </a:solidFill>
              </a:rPr>
              <a:t>•  Le carte </a:t>
            </a:r>
            <a:r>
              <a:rPr sz="1400" b="0" dirty="0" err="1">
                <a:solidFill>
                  <a:srgbClr val="404040"/>
                </a:solidFill>
              </a:rPr>
              <a:t>uscite</a:t>
            </a:r>
            <a:r>
              <a:rPr sz="1400" b="0" dirty="0">
                <a:solidFill>
                  <a:srgbClr val="404040"/>
                </a:solidFill>
              </a:rPr>
              <a:t> con </a:t>
            </a:r>
            <a:r>
              <a:rPr sz="1400" b="0" dirty="0" err="1">
                <a:solidFill>
                  <a:srgbClr val="404040"/>
                </a:solidFill>
              </a:rPr>
              <a:t>i</a:t>
            </a:r>
            <a:r>
              <a:rPr sz="1400" b="0" dirty="0">
                <a:solidFill>
                  <a:srgbClr val="404040"/>
                </a:solidFill>
              </a:rPr>
              <a:t> </a:t>
            </a:r>
            <a:r>
              <a:rPr sz="1400" b="0" dirty="0" err="1">
                <a:solidFill>
                  <a:srgbClr val="404040"/>
                </a:solidFill>
              </a:rPr>
              <a:t>dadi</a:t>
            </a:r>
            <a:r>
              <a:rPr sz="1400" b="0" dirty="0">
                <a:solidFill>
                  <a:srgbClr val="404040"/>
                </a:solidFill>
              </a:rPr>
              <a:t> e la </a:t>
            </a:r>
            <a:r>
              <a:rPr sz="1400" b="0" dirty="0" err="1">
                <a:solidFill>
                  <a:srgbClr val="404040"/>
                </a:solidFill>
              </a:rPr>
              <a:t>storia</a:t>
            </a:r>
            <a:r>
              <a:rPr sz="1400" b="0" dirty="0">
                <a:solidFill>
                  <a:srgbClr val="404040"/>
                </a:solidFill>
              </a:rPr>
              <a:t> </a:t>
            </a:r>
            <a:r>
              <a:rPr sz="1400" b="0" dirty="0" err="1">
                <a:solidFill>
                  <a:srgbClr val="404040"/>
                </a:solidFill>
              </a:rPr>
              <a:t>raccontata</a:t>
            </a:r>
            <a:r>
              <a:rPr sz="1400" b="0" dirty="0">
                <a:solidFill>
                  <a:srgbClr val="404040"/>
                </a:solidFill>
              </a:rPr>
              <a:t> </a:t>
            </a:r>
            <a:r>
              <a:rPr sz="1400" b="0" dirty="0" err="1">
                <a:solidFill>
                  <a:srgbClr val="404040"/>
                </a:solidFill>
              </a:rPr>
              <a:t>rivelano</a:t>
            </a:r>
            <a:r>
              <a:rPr sz="1400" b="0" dirty="0">
                <a:solidFill>
                  <a:srgbClr val="404040"/>
                </a:solidFill>
              </a:rPr>
              <a:t> lo stile di </a:t>
            </a:r>
            <a:r>
              <a:rPr sz="1400" b="0" dirty="0" err="1">
                <a:solidFill>
                  <a:srgbClr val="404040"/>
                </a:solidFill>
              </a:rPr>
              <a:t>collaborazione</a:t>
            </a:r>
            <a:endParaRPr sz="1400" b="0" dirty="0">
              <a:solidFill>
                <a:srgbClr val="404040"/>
              </a:solidFill>
            </a:endParaRPr>
          </a:p>
          <a:p>
            <a:pPr algn="l">
              <a:spcAft>
                <a:spcPts val="600"/>
              </a:spcAft>
            </a:pPr>
            <a:r>
              <a:rPr sz="1400" b="0" dirty="0">
                <a:solidFill>
                  <a:srgbClr val="404040"/>
                </a:solidFill>
              </a:rPr>
              <a:t>•  Il master </a:t>
            </a:r>
            <a:r>
              <a:rPr sz="1400" b="0" dirty="0" err="1">
                <a:solidFill>
                  <a:srgbClr val="404040"/>
                </a:solidFill>
              </a:rPr>
              <a:t>inserisce</a:t>
            </a:r>
            <a:r>
              <a:rPr sz="1400" b="0" dirty="0">
                <a:solidFill>
                  <a:srgbClr val="404040"/>
                </a:solidFill>
              </a:rPr>
              <a:t> le </a:t>
            </a:r>
            <a:r>
              <a:rPr sz="1400" b="0" dirty="0" err="1">
                <a:solidFill>
                  <a:srgbClr val="404040"/>
                </a:solidFill>
              </a:rPr>
              <a:t>storie</a:t>
            </a:r>
            <a:r>
              <a:rPr sz="1400" b="0" dirty="0">
                <a:solidFill>
                  <a:srgbClr val="404040"/>
                </a:solidFill>
              </a:rPr>
              <a:t> in M365 Copilot </a:t>
            </a:r>
            <a:r>
              <a:rPr sz="1400" b="0" dirty="0" err="1">
                <a:solidFill>
                  <a:srgbClr val="404040"/>
                </a:solidFill>
              </a:rPr>
              <a:t>durante</a:t>
            </a:r>
            <a:r>
              <a:rPr sz="1400" b="0" dirty="0">
                <a:solidFill>
                  <a:srgbClr val="404040"/>
                </a:solidFill>
              </a:rPr>
              <a:t> la partita</a:t>
            </a:r>
          </a:p>
          <a:p>
            <a:pPr algn="l">
              <a:spcAft>
                <a:spcPts val="1600"/>
              </a:spcAft>
            </a:pPr>
            <a:r>
              <a:rPr sz="1400" b="0" dirty="0">
                <a:solidFill>
                  <a:srgbClr val="404040"/>
                </a:solidFill>
              </a:rPr>
              <a:t>•  Copilot </a:t>
            </a:r>
            <a:r>
              <a:rPr sz="1400" b="0" dirty="0" err="1">
                <a:solidFill>
                  <a:srgbClr val="404040"/>
                </a:solidFill>
              </a:rPr>
              <a:t>analizza</a:t>
            </a:r>
            <a:r>
              <a:rPr sz="1400" b="0" dirty="0">
                <a:solidFill>
                  <a:srgbClr val="404040"/>
                </a:solidFill>
              </a:rPr>
              <a:t> </a:t>
            </a:r>
            <a:r>
              <a:rPr sz="1400" b="0" dirty="0" err="1">
                <a:solidFill>
                  <a:srgbClr val="404040"/>
                </a:solidFill>
              </a:rPr>
              <a:t>scelte</a:t>
            </a:r>
            <a:r>
              <a:rPr sz="1400" b="0" dirty="0">
                <a:solidFill>
                  <a:srgbClr val="404040"/>
                </a:solidFill>
              </a:rPr>
              <a:t> e </a:t>
            </a:r>
            <a:r>
              <a:rPr sz="1400" b="0" dirty="0" err="1">
                <a:solidFill>
                  <a:srgbClr val="404040"/>
                </a:solidFill>
              </a:rPr>
              <a:t>narrazione</a:t>
            </a:r>
            <a:r>
              <a:rPr sz="1400" b="0" dirty="0">
                <a:solidFill>
                  <a:srgbClr val="404040"/>
                </a:solidFill>
              </a:rPr>
              <a:t> di ogni </a:t>
            </a:r>
            <a:r>
              <a:rPr sz="1400" b="0" dirty="0" err="1">
                <a:solidFill>
                  <a:srgbClr val="404040"/>
                </a:solidFill>
              </a:rPr>
              <a:t>giocatore</a:t>
            </a:r>
            <a:endParaRPr sz="1400" b="0" dirty="0">
              <a:solidFill>
                <a:srgbClr val="404040"/>
              </a:solidFill>
            </a:endParaRPr>
          </a:p>
          <a:p>
            <a:pPr algn="l">
              <a:spcAft>
                <a:spcPts val="600"/>
              </a:spcAft>
            </a:pPr>
            <a:r>
              <a:rPr sz="1600" b="1" dirty="0">
                <a:solidFill>
                  <a:srgbClr val="E97132"/>
                </a:solidFill>
              </a:rPr>
              <a:t>Nessun </a:t>
            </a:r>
            <a:r>
              <a:rPr sz="1600" b="1" dirty="0" err="1">
                <a:solidFill>
                  <a:srgbClr val="E97132"/>
                </a:solidFill>
              </a:rPr>
              <a:t>calcolo</a:t>
            </a:r>
            <a:r>
              <a:rPr sz="1600" b="1" dirty="0">
                <a:solidFill>
                  <a:srgbClr val="E97132"/>
                </a:solidFill>
              </a:rPr>
              <a:t> </a:t>
            </a:r>
            <a:r>
              <a:rPr sz="1600" b="1" dirty="0" err="1">
                <a:solidFill>
                  <a:srgbClr val="E97132"/>
                </a:solidFill>
              </a:rPr>
              <a:t>manuale</a:t>
            </a:r>
            <a:endParaRPr sz="1600" b="1" dirty="0">
              <a:solidFill>
                <a:srgbClr val="E97132"/>
              </a:solidFill>
            </a:endParaRPr>
          </a:p>
          <a:p>
            <a:pPr algn="l">
              <a:spcAft>
                <a:spcPts val="400"/>
              </a:spcAft>
            </a:pPr>
            <a:r>
              <a:rPr sz="1350" b="0" dirty="0">
                <a:solidFill>
                  <a:srgbClr val="404040"/>
                </a:solidFill>
              </a:rPr>
              <a:t>Il master </a:t>
            </a:r>
            <a:r>
              <a:rPr sz="1350" b="0" dirty="0" err="1">
                <a:solidFill>
                  <a:srgbClr val="404040"/>
                </a:solidFill>
              </a:rPr>
              <a:t>chiama</a:t>
            </a:r>
            <a:r>
              <a:rPr sz="1350" b="0" dirty="0">
                <a:solidFill>
                  <a:srgbClr val="404040"/>
                </a:solidFill>
              </a:rPr>
              <a:t> </a:t>
            </a:r>
            <a:r>
              <a:rPr sz="1350" b="0" dirty="0" err="1">
                <a:solidFill>
                  <a:srgbClr val="404040"/>
                </a:solidFill>
              </a:rPr>
              <a:t>i</a:t>
            </a:r>
            <a:r>
              <a:rPr sz="1350" b="0" dirty="0">
                <a:solidFill>
                  <a:srgbClr val="404040"/>
                </a:solidFill>
              </a:rPr>
              <a:t> </a:t>
            </a:r>
            <a:r>
              <a:rPr sz="1350" b="0" dirty="0" err="1">
                <a:solidFill>
                  <a:srgbClr val="404040"/>
                </a:solidFill>
              </a:rPr>
              <a:t>tiri</a:t>
            </a:r>
            <a:r>
              <a:rPr sz="1350" b="0" dirty="0">
                <a:solidFill>
                  <a:srgbClr val="404040"/>
                </a:solidFill>
              </a:rPr>
              <a:t> e </a:t>
            </a:r>
            <a:r>
              <a:rPr sz="1350" b="0" dirty="0" err="1">
                <a:solidFill>
                  <a:srgbClr val="404040"/>
                </a:solidFill>
              </a:rPr>
              <a:t>raccoglie</a:t>
            </a:r>
            <a:r>
              <a:rPr sz="1350" b="0" dirty="0">
                <a:solidFill>
                  <a:srgbClr val="404040"/>
                </a:solidFill>
              </a:rPr>
              <a:t> le </a:t>
            </a:r>
            <a:r>
              <a:rPr sz="1350" b="0" dirty="0" err="1">
                <a:solidFill>
                  <a:srgbClr val="404040"/>
                </a:solidFill>
              </a:rPr>
              <a:t>storie</a:t>
            </a:r>
            <a:r>
              <a:rPr sz="1350" b="0" dirty="0">
                <a:solidFill>
                  <a:srgbClr val="404040"/>
                </a:solidFill>
              </a:rPr>
              <a:t>: </a:t>
            </a:r>
            <a:r>
              <a:rPr sz="1350" b="0" dirty="0" err="1">
                <a:solidFill>
                  <a:srgbClr val="404040"/>
                </a:solidFill>
              </a:rPr>
              <a:t>i</a:t>
            </a:r>
            <a:r>
              <a:rPr sz="1350" b="0" dirty="0">
                <a:solidFill>
                  <a:srgbClr val="404040"/>
                </a:solidFill>
              </a:rPr>
              <a:t> </a:t>
            </a:r>
            <a:r>
              <a:rPr sz="1350" b="0" dirty="0" err="1">
                <a:solidFill>
                  <a:srgbClr val="404040"/>
                </a:solidFill>
              </a:rPr>
              <a:t>profili</a:t>
            </a:r>
            <a:r>
              <a:rPr sz="1350" b="0" dirty="0">
                <a:solidFill>
                  <a:srgbClr val="404040"/>
                </a:solidFill>
              </a:rPr>
              <a:t> </a:t>
            </a:r>
            <a:r>
              <a:rPr sz="1350" b="0" dirty="0" err="1">
                <a:solidFill>
                  <a:srgbClr val="404040"/>
                </a:solidFill>
              </a:rPr>
              <a:t>arrivano</a:t>
            </a:r>
            <a:r>
              <a:rPr sz="1350" b="0" dirty="0">
                <a:solidFill>
                  <a:srgbClr val="404040"/>
                </a:solidFill>
              </a:rPr>
              <a:t> da soli a fine </a:t>
            </a:r>
            <a:r>
              <a:rPr sz="1350" b="0" dirty="0" err="1">
                <a:solidFill>
                  <a:srgbClr val="404040"/>
                </a:solidFill>
              </a:rPr>
              <a:t>turno</a:t>
            </a:r>
            <a:r>
              <a:rPr sz="1350" b="0" dirty="0">
                <a:solidFill>
                  <a:srgbClr val="404040"/>
                </a:solidFill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71600"/>
            <a:ext cx="530352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3C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60" y="1645920"/>
            <a:ext cx="4754880" cy="2423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97132"/>
                </a:solidFill>
              </a:rPr>
              <a:t>Output della sessione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</a:rPr>
              <a:t>•  Un file .md generato da M365 Copilot a turno concluso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404040"/>
                </a:solidFill>
              </a:rPr>
              <a:t>•  Un archetipo per ogni giocatore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404040"/>
                </a:solidFill>
              </a:rPr>
              <a:t>•  La base per il debrief finale del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4572000"/>
            <a:ext cx="5303520" cy="457200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Master + Copilot: i profili si costruiscono giocando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5257800"/>
            <a:ext cx="5303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595959"/>
                </a:solidFill>
              </a:rPr>
              <a:t>Ogni storia diventa anche un dato: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95959"/>
                </a:solidFill>
              </a:rPr>
              <a:t>come scegli racconta come collabori.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1752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10128" y="182880"/>
            <a:ext cx="8595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E97132"/>
                </a:solidFill>
              </a:rPr>
              <a:t>MATERIALI E ROADMAP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</a:rPr>
              <a:t>Basso livello di complessita: facile da preparare, immediato da usare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4937760" cy="4297680"/>
          </a:xfrm>
          <a:prstGeom prst="roundRect">
            <a:avLst>
              <a:gd name="adj" fmla="val 6000"/>
            </a:avLst>
          </a:prstGeom>
          <a:solidFill>
            <a:srgbClr val="FDF0E7"/>
          </a:solidFill>
          <a:ln w="12700">
            <a:solidFill>
              <a:srgbClr val="F3C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389120" cy="3794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E97132"/>
                </a:solidFill>
              </a:rPr>
              <a:t>Materiali minimi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404040"/>
                </a:solidFill>
              </a:rPr>
              <a:t>•  Mazzo carte prompt: 3 fasi, 36 carte numerate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404040"/>
                </a:solidFill>
              </a:rPr>
              <a:t>•  App RollDice di Google (1 PC per giocatore)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404040"/>
                </a:solidFill>
              </a:rPr>
              <a:t>•  M365 Copilot aperto per il master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404040"/>
                </a:solidFill>
              </a:rPr>
              <a:t>•  1 timer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404040"/>
                </a:solidFill>
              </a:rPr>
              <a:t>•  Griglia o foglio storia (o lavagna)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404040"/>
                </a:solidFill>
              </a:rPr>
              <a:t>•  Post-it per idee chiave (opzione)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E97132"/>
                </a:solidFill>
              </a:rPr>
              <a:t>Strumenti opzionali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404040"/>
                </a:solidFill>
              </a:rPr>
              <a:t>Slide introduttive, scheda di debrief, template di osservazione per il master.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562356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3C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44768" y="1636776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1508760"/>
            <a:ext cx="4069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>
                <a:solidFill>
                  <a:srgbClr val="404040"/>
                </a:solidFill>
              </a:rPr>
              <a:t>Definizione del format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95959"/>
                </a:solidFill>
              </a:rPr>
              <a:t>Meccanica base, durata, giocatori, valore educativo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468880"/>
            <a:ext cx="562356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3C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44768" y="2734056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D14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606040"/>
            <a:ext cx="4069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>
                <a:solidFill>
                  <a:srgbClr val="404040"/>
                </a:solidFill>
              </a:rPr>
              <a:t>Prototipo del kit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95959"/>
                </a:solidFill>
              </a:rPr>
              <a:t>Mazzo carte numerate, scheda master, prova rapida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3566160"/>
            <a:ext cx="562356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3C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44768" y="3831335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3703320"/>
            <a:ext cx="4069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>
                <a:solidFill>
                  <a:srgbClr val="404040"/>
                </a:solidFill>
              </a:rPr>
              <a:t>Validazione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95959"/>
                </a:solidFill>
              </a:rPr>
              <a:t>Feedback di master e giocatori, regole semplificate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4663440"/>
            <a:ext cx="562356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2700">
            <a:solidFill>
              <a:srgbClr val="F3C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44768" y="4928616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D14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800600"/>
            <a:ext cx="40690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450" b="1">
                <a:solidFill>
                  <a:srgbClr val="404040"/>
                </a:solidFill>
              </a:rPr>
              <a:t>Packaging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595959"/>
                </a:solidFill>
              </a:rPr>
              <a:t>Kit finale, manuale breve, stampa delle carte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98932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Complessita: bassa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598932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D14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Facile da preparare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598932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0" rIns="73152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Immediato da usare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E02462-149E-8979-A70F-020602DB7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C4CFD6-75D2-F2FA-7C44-882227FCC6F0}"/>
              </a:ext>
            </a:extLst>
          </p:cNvPr>
          <p:cNvSpPr txBox="1"/>
          <p:nvPr/>
        </p:nvSpPr>
        <p:spPr>
          <a:xfrm>
            <a:off x="277960" y="2967335"/>
            <a:ext cx="84130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>
                <a:solidFill>
                  <a:schemeClr val="tx1">
                    <a:lumMod val="65000"/>
                    <a:lumOff val="35000"/>
                  </a:schemeClr>
                </a:solidFill>
              </a:rPr>
              <a:t>COSA PORTIAMO A CASA</a:t>
            </a:r>
            <a:endParaRPr lang="it-IT" sz="5400" b="1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7F2108-485A-58AA-5A36-C18A4811D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185" y="1383275"/>
            <a:ext cx="10532815" cy="51269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240584-AE90-B572-C911-7D0431EB94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434" r="73" b="28148"/>
          <a:stretch>
            <a:fillRect/>
          </a:stretch>
        </p:blipFill>
        <p:spPr>
          <a:xfrm>
            <a:off x="-871" y="0"/>
            <a:ext cx="4022206" cy="133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856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01752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10128" y="182880"/>
            <a:ext cx="8595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E97132"/>
                </a:solidFill>
              </a:rPr>
              <a:t>I TAKEAWAY DELLA SESSIONE</a:t>
            </a:r>
          </a:p>
          <a:p>
            <a:pPr algn="l"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</a:rPr>
              <a:t>Quello che resta al team dopo i 20 minuti di gioco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DF0E7"/>
          </a:solidFill>
          <a:ln w="12700">
            <a:solidFill>
              <a:srgbClr val="F3C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2688" y="1819656"/>
            <a:ext cx="420624" cy="420624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810512"/>
            <a:ext cx="4069079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04040"/>
                </a:solidFill>
              </a:rPr>
              <a:t>Una storia condivisa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</a:rPr>
              <a:t>Costruita insieme, fase dopo fase, con il contributo di tutti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46304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3C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537959" y="1819656"/>
            <a:ext cx="420624" cy="420624"/>
          </a:xfrm>
          <a:prstGeom prst="ellipse">
            <a:avLst/>
          </a:prstGeom>
          <a:solidFill>
            <a:srgbClr val="D14F1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1810512"/>
            <a:ext cx="4069079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04040"/>
                </a:solidFill>
              </a:rPr>
              <a:t>Collaborazione vissuta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</a:rPr>
              <a:t>L'inclusione praticata al tavolo, non spiegata in teoria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8620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3C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32688" y="4242816"/>
            <a:ext cx="420624" cy="420624"/>
          </a:xfrm>
          <a:prstGeom prst="ellipse">
            <a:avLst/>
          </a:prstGeom>
          <a:solidFill>
            <a:srgbClr val="E97132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4233672"/>
            <a:ext cx="4069079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04040"/>
                </a:solidFill>
              </a:rPr>
              <a:t>Un archetipo personale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</a:rPr>
              <a:t>Il profilo del proprio modo di collaborare, nel file .md di Copilot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3886200"/>
            <a:ext cx="5349240" cy="2148840"/>
          </a:xfrm>
          <a:prstGeom prst="roundRect">
            <a:avLst>
              <a:gd name="adj" fmla="val 8000"/>
            </a:avLst>
          </a:prstGeom>
          <a:solidFill>
            <a:srgbClr val="FDF0E7"/>
          </a:solidFill>
          <a:ln w="12700">
            <a:solidFill>
              <a:srgbClr val="F3C9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37959" y="4242816"/>
            <a:ext cx="420624" cy="420624"/>
          </a:xfrm>
          <a:prstGeom prst="ellipse">
            <a:avLst/>
          </a:prstGeom>
          <a:solidFill>
            <a:srgbClr val="D14F1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2" y="4233672"/>
            <a:ext cx="4069079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404040"/>
                </a:solidFill>
              </a:rPr>
              <a:t>Spunti per il team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</a:rPr>
              <a:t>Comportamenti inclusivi osservati e takeaway per il debrief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</a:rPr>
              <a:t>Ogni storia diventa anche un dato: come scegli racconta come collabori.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C8104A-5D29-8970-7DD2-8EC897627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EBAC0C-85F6-1072-DC29-699AD323BABC}"/>
              </a:ext>
            </a:extLst>
          </p:cNvPr>
          <p:cNvSpPr txBox="1"/>
          <p:nvPr/>
        </p:nvSpPr>
        <p:spPr>
          <a:xfrm>
            <a:off x="2744787" y="3137353"/>
            <a:ext cx="7247374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6600" b="1">
                <a:solidFill>
                  <a:schemeClr val="accent2"/>
                </a:solidFill>
              </a:rPr>
              <a:t>GRAZIE PER AVER PARTECIPATO</a:t>
            </a:r>
            <a:endParaRPr lang="it-IT" sz="6600" b="1">
              <a:solidFill>
                <a:schemeClr val="accent2"/>
              </a:solidFill>
            </a:endParaRPr>
          </a:p>
        </p:txBody>
      </p:sp>
      <p:pic>
        <p:nvPicPr>
          <p:cNvPr id="4" name="Picture 3" descr="A logo with orange triangles&#10;&#10;AI-generated content may be incorrect.">
            <a:extLst>
              <a:ext uri="{FF2B5EF4-FFF2-40B4-BE49-F238E27FC236}">
                <a16:creationId xmlns:a16="http://schemas.microsoft.com/office/drawing/2014/main" id="{E3B155E3-42DD-9810-415F-2E293B51FE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434" r="73" b="28148"/>
          <a:stretch>
            <a:fillRect/>
          </a:stretch>
        </p:blipFill>
        <p:spPr>
          <a:xfrm>
            <a:off x="1385243" y="130629"/>
            <a:ext cx="9000606" cy="300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956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fae8262-b78e-4366-8929-a5d6aac95320}" enabled="1" method="Standard" siteId="{cf36141c-ddd7-45a7-b073-111f66d0b30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1023</Words>
  <Application>Microsoft Office PowerPoint</Application>
  <PresentationFormat>Widescreen</PresentationFormat>
  <Paragraphs>179</Paragraphs>
  <Slides>15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Pandolfo Giorgia</dc:creator>
  <cp:lastModifiedBy>Ciro Andreano</cp:lastModifiedBy>
  <cp:revision>3</cp:revision>
  <dcterms:created xsi:type="dcterms:W3CDTF">2026-07-02T08:17:01Z</dcterms:created>
  <dcterms:modified xsi:type="dcterms:W3CDTF">2026-07-16T13:18:41Z</dcterms:modified>
</cp:coreProperties>
</file>